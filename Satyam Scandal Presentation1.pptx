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2AB97FA-F6D2-4DD3-ADA8-3103BA7CBD2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327DB5-FA77-44C8-9F64-020D228067C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D0A638-3C78-4845-8549-A260C4C8A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796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684AA-0CA4-DEEA-88FE-ADE1FBF89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9CCE80-7089-A4A8-5E1A-2C22B1D213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C4FCB-FA36-C0F2-F3E0-425E7F93F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5E41B-1F65-477F-91A3-A14753E65A6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652C4-03BB-9A2E-30BC-344D553C8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2AC9A-8BCB-9A8B-9A03-5F9B32226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EA47C-5F54-4F66-AD73-500AA54D7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912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22E1B-FD87-4583-B8D7-6D55D48A4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E131F-59BB-FD2A-125D-8AB9A587C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5C231-8A89-6E3D-14E3-1C132532F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5E41B-1F65-477F-91A3-A14753E65A6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AFAFF-ED53-9206-8572-AF06E019A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BD122-5F37-9432-7AF2-CCD46767D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EA47C-5F54-4F66-AD73-500AA54D7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10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6EEBE-2B4C-85FE-2A63-B594D224E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1F93D-E30B-1549-D41F-29CF38DCA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60FAF-9C00-5353-C92F-60BF3BC02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5E41B-1F65-477F-91A3-A14753E65A6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62BFF-20D0-15CC-3985-4B70E1973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E8E22-AE96-CFAA-8307-B46CA049A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EA47C-5F54-4F66-AD73-500AA54D7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44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89B72-9E62-7AA5-6252-B1ADD9B42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ED6AF-9EA2-D480-11B2-4CEA52709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9CBCD-DF36-043B-1773-A752AF7FD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06F76-9B49-576A-446B-30D7E7928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5E41B-1F65-477F-91A3-A14753E65A6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86D84-8DD9-AE9D-7F2F-CB333DB17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224E1-86E0-A0F2-4996-BED69AF4A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EA47C-5F54-4F66-AD73-500AA54D7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685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A101C-B2AA-4B93-641B-21583FDCC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4528D9-1EDB-E138-F82E-36E4A2A2C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E297E7-45DC-48E6-6F98-898515A3A9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A1C7FA-72C9-063A-8222-17F36CF775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00340C-DB3C-786E-B7B6-8D25E36CF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35A15B-6BE7-86DB-930C-50865353A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5E41B-1F65-477F-91A3-A14753E65A6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FADFB4-A03F-2AAA-7160-19AD583EA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1DFC47-069E-CBC2-1964-BD716BF52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EA47C-5F54-4F66-AD73-500AA54D7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900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32A5E-5077-4588-1FBF-02D0B3929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820DF6-3333-804D-F11F-1F4AE5631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5E41B-1F65-477F-91A3-A14753E65A6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586E5E-C6E0-84DB-82BF-BF9439196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99A79-38B9-B390-83D3-F619E0419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EA47C-5F54-4F66-AD73-500AA54D7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997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7E1EFD-4992-AD26-25F7-7CCD9F77A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5E41B-1F65-477F-91A3-A14753E65A6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2A7378-87A1-D1B7-664F-BD25E37E8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AC80C-FA12-1872-4C55-56560F5D8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EA47C-5F54-4F66-AD73-500AA54D7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868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6275A-544D-9AFC-FDDE-75EC26AE4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40B73-2A65-B1ED-F974-2A2378339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F27D8-CDEF-D747-1252-D85E0D1C8E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7CC07-A2C0-F012-38E4-C67A0C557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5E41B-1F65-477F-91A3-A14753E65A6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362663-09E5-5C08-777D-2E694F137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C295D8-7EE8-4BFD-F608-0B7812390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EA47C-5F54-4F66-AD73-500AA54D7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51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61357-E958-0DCF-47B0-9C116CFE5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3A47A7-1AB0-C19C-BC4F-EA228207D4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A1BD07-4CDA-F490-7946-01254B86F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DF27E7-9915-AD7F-2CA7-EA0C37D70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5E41B-1F65-477F-91A3-A14753E65A6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BFD63D-05E3-F74C-DA33-48F0CD327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BF9A9-292C-5A4D-2EB3-1C333A130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EA47C-5F54-4F66-AD73-500AA54D7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00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05836-634B-541D-1614-90362600D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8FD5F-DD31-47E9-626E-1CA103427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6B9FC-3F02-629D-ABC6-C270840CA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5E41B-1F65-477F-91A3-A14753E65A6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89E70-3454-BE2D-BE91-7E513345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92F70-4D5F-BEB9-655C-222E20AC3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EA47C-5F54-4F66-AD73-500AA54D7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45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5EC182-022F-4DEF-19E4-3343B0107F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7AD284-5E38-473A-06CA-3163658BC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823A7-B081-9CA5-D1CA-76DBBC6F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5E41B-1F65-477F-91A3-A14753E65A6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DEFEE-3EFE-A1ED-D214-7237848A1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907D4-8C5B-92D4-23EE-C332CD8BA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EA47C-5F54-4F66-AD73-500AA54D7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027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DD62CB-4A63-D397-5900-33E443ECD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48537-C78F-D85A-9D26-03C3F4C41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FB10D-C698-8A43-C4D3-BCB64349B7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D5E41B-1F65-477F-91A3-A14753E65A6F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6EF50-7E6D-4907-F52C-64C21C1CFC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E02B1-178B-35FE-F4F9-FBD5609972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3EA47C-5F54-4F66-AD73-500AA54D7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379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vijaykumbhar.blogspot.com/2020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nc/3.0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le of red and white triangle signs&#10;&#10;AI-generated content may be incorrect.">
            <a:extLst>
              <a:ext uri="{FF2B5EF4-FFF2-40B4-BE49-F238E27FC236}">
                <a16:creationId xmlns:a16="http://schemas.microsoft.com/office/drawing/2014/main" id="{0F95481E-F3BE-2F9E-E15D-30761885D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10571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3241F5-34F8-01D2-EC72-D0214DCF4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000" y="1623277"/>
            <a:ext cx="5061582" cy="2472708"/>
          </a:xfrm>
        </p:spPr>
        <p:txBody>
          <a:bodyPr anchor="b">
            <a:normAutofit fontScale="90000"/>
          </a:bodyPr>
          <a:lstStyle/>
          <a:p>
            <a:pPr algn="l"/>
            <a:br>
              <a:rPr lang="en-US" sz="7200" b="1" i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br>
              <a:rPr lang="en-US" sz="7200" b="1" i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br>
              <a:rPr lang="en-US" sz="7200" b="1" i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br>
              <a:rPr lang="en-US" sz="7200" b="1" i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br>
              <a:rPr lang="en-US" sz="7200" b="1" i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br>
              <a:rPr lang="en-US" sz="7200" b="1" i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br>
              <a:rPr lang="en-US" sz="7200" b="1" i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br>
              <a:rPr lang="en-US" sz="7200" b="1" i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8900" b="1" i="1" dirty="0">
                <a:solidFill>
                  <a:schemeClr val="bg1"/>
                </a:solidFill>
                <a:latin typeface="Arial Black" panose="020B0A04020102020204" pitchFamily="34" charset="0"/>
              </a:rPr>
              <a:t>Satyam Scandal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2953FA-DD23-CECC-70AE-5F919846E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250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1200" b="1" i="1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Background information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1200" b="1" i="1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Nature- How scam executed, imported people involved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algn="l"/>
            <a:r>
              <a:rPr lang="en-US" sz="20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8D80D9-22E4-6D97-0E2B-0958516F9020}"/>
              </a:ext>
            </a:extLst>
          </p:cNvPr>
          <p:cNvSpPr txBox="1"/>
          <p:nvPr/>
        </p:nvSpPr>
        <p:spPr>
          <a:xfrm>
            <a:off x="9737482" y="6657945"/>
            <a:ext cx="2454518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vijaykumbhar.blogspot.com/202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344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F79630B-0F0B-446E-A637-38FA8F61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028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47499D-626A-9217-D63B-E650729E7E3A}"/>
              </a:ext>
            </a:extLst>
          </p:cNvPr>
          <p:cNvSpPr txBox="1"/>
          <p:nvPr/>
        </p:nvSpPr>
        <p:spPr>
          <a:xfrm>
            <a:off x="142240" y="629462"/>
            <a:ext cx="4805948" cy="56595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1" u="sng" dirty="0">
                <a:latin typeface="Arial Black" panose="020B0A04020102020204" pitchFamily="34" charset="0"/>
              </a:rPr>
              <a:t>Background information on  Inform  Satyam Computer Services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i="1" dirty="0">
              <a:latin typeface="Arial Black" panose="020B0A04020102020204" pitchFamily="34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1" dirty="0">
                <a:latin typeface="Arial Black" panose="020B0A04020102020204" pitchFamily="34" charset="0"/>
              </a:rPr>
              <a:t>1. </a:t>
            </a:r>
            <a:r>
              <a:rPr lang="en-US" sz="2000" b="1" i="1" u="sng" dirty="0">
                <a:latin typeface="Arial Black" panose="020B0A04020102020204" pitchFamily="34" charset="0"/>
              </a:rPr>
              <a:t>Founding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i="1" dirty="0">
              <a:latin typeface="Arial Black" panose="020B0A04020102020204" pitchFamily="34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1" dirty="0">
                <a:latin typeface="Arial Black" panose="020B0A04020102020204" pitchFamily="34" charset="0"/>
              </a:rPr>
              <a:t>Founded:  24 June 1987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i="1" dirty="0">
              <a:latin typeface="Arial Black" panose="020B0A04020102020204" pitchFamily="34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1" dirty="0">
                <a:latin typeface="Arial Black" panose="020B0A04020102020204" pitchFamily="34" charset="0"/>
              </a:rPr>
              <a:t>Founder:  B. Ramalinga Raju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1" dirty="0">
                <a:latin typeface="Arial Black" panose="020B0A04020102020204" pitchFamily="34" charset="0"/>
              </a:rPr>
              <a:t>Headquarters: Hyderabad, India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1" u="sng" dirty="0">
                <a:latin typeface="Arial Black" panose="020B0A04020102020204" pitchFamily="34" charset="0"/>
              </a:rPr>
              <a:t>Nature of business</a:t>
            </a:r>
            <a:r>
              <a:rPr lang="en-US" sz="2000" b="1" i="1" dirty="0">
                <a:latin typeface="Arial Black" panose="020B0A04020102020204" pitchFamily="34" charset="0"/>
              </a:rPr>
              <a:t>: IT services, consulting, and outsourcing which focused on software development and gradually entered global markets through cost-effective outsourcing services</a:t>
            </a:r>
            <a:r>
              <a:rPr lang="en-US" sz="1400" b="1" i="1" dirty="0"/>
              <a:t>.</a:t>
            </a:r>
          </a:p>
        </p:txBody>
      </p:sp>
      <p:pic>
        <p:nvPicPr>
          <p:cNvPr id="3" name="Picture 2" descr="A person in a white shirt&#10;&#10;AI-generated content may be incorrect.">
            <a:extLst>
              <a:ext uri="{FF2B5EF4-FFF2-40B4-BE49-F238E27FC236}">
                <a16:creationId xmlns:a16="http://schemas.microsoft.com/office/drawing/2014/main" id="{3E67F9AC-3332-EA61-A256-E1F0DA4786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1" r="18179" b="-2"/>
          <a:stretch>
            <a:fillRect/>
          </a:stretch>
        </p:blipFill>
        <p:spPr>
          <a:xfrm>
            <a:off x="4948188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50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erson with red tape on his face&#10;&#10;AI-generated content may be incorrect.">
            <a:extLst>
              <a:ext uri="{FF2B5EF4-FFF2-40B4-BE49-F238E27FC236}">
                <a16:creationId xmlns:a16="http://schemas.microsoft.com/office/drawing/2014/main" id="{BE26BC0D-4BC7-CAAE-42EC-5237A7DA1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7" r="5057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EE2DF4-A34E-D550-881D-7E9C6BB36881}"/>
              </a:ext>
            </a:extLst>
          </p:cNvPr>
          <p:cNvSpPr txBox="1"/>
          <p:nvPr/>
        </p:nvSpPr>
        <p:spPr>
          <a:xfrm>
            <a:off x="0" y="585081"/>
            <a:ext cx="8258943" cy="3742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spc="-150" dirty="0"/>
              <a:t>2. </a:t>
            </a:r>
            <a:r>
              <a:rPr lang="en-US" sz="2800" b="1" i="1" u="sng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Boom / Rise to Success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spc="-15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i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During the late 1990s and early 2000s, Satyam grew rapidly: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i="1" spc="-1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i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“By mid-2000s, Satyam became the 4th largest IT company in India, behind TCS, Infosys, and Wipro.”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i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served around 600+ global clients, including Fortune 500 companies.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i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*Employee count crossed 50,000+ before the scandal.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i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*Satyam was viewed as a fast-growing global IT giant, often compared with India’s top tech companies.</a:t>
            </a:r>
          </a:p>
        </p:txBody>
      </p:sp>
    </p:spTree>
    <p:extLst>
      <p:ext uri="{BB962C8B-B14F-4D97-AF65-F5344CB8AC3E}">
        <p14:creationId xmlns:p14="http://schemas.microsoft.com/office/powerpoint/2010/main" val="3787891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standing next to a building&#10;&#10;AI-generated content may be incorrect.">
            <a:extLst>
              <a:ext uri="{FF2B5EF4-FFF2-40B4-BE49-F238E27FC236}">
                <a16:creationId xmlns:a16="http://schemas.microsoft.com/office/drawing/2014/main" id="{9A71A888-18B4-0019-505B-F400459682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511" y="0"/>
            <a:ext cx="12192000" cy="6858000"/>
          </a:xfrm>
          <a:prstGeom prst="rect">
            <a:avLst/>
          </a:prstGeom>
        </p:spPr>
      </p:pic>
      <p:pic>
        <p:nvPicPr>
          <p:cNvPr id="2" name="video 01">
            <a:hlinkClick r:id="" action="ppaction://media"/>
            <a:extLst>
              <a:ext uri="{FF2B5EF4-FFF2-40B4-BE49-F238E27FC236}">
                <a16:creationId xmlns:a16="http://schemas.microsoft.com/office/drawing/2014/main" id="{8BE1ECA9-2EE1-9C22-6A73-2AE6E2B452F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534656" y="374869"/>
            <a:ext cx="4172712" cy="23471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C3ADA0-9593-0FE3-6E8B-4C4F0D565704}"/>
              </a:ext>
            </a:extLst>
          </p:cNvPr>
          <p:cNvSpPr txBox="1"/>
          <p:nvPr/>
        </p:nvSpPr>
        <p:spPr>
          <a:xfrm>
            <a:off x="86810" y="-278803"/>
            <a:ext cx="7361036" cy="7602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i="1" dirty="0">
              <a:solidFill>
                <a:schemeClr val="bg1"/>
              </a:solidFill>
            </a:endParaRPr>
          </a:p>
          <a:p>
            <a:endParaRPr lang="en-US" sz="2400" b="1" i="1" dirty="0">
              <a:solidFill>
                <a:schemeClr val="bg1"/>
              </a:solidFill>
            </a:endParaRPr>
          </a:p>
          <a:p>
            <a:r>
              <a:rPr lang="en-US" sz="2800" b="1" i="1" dirty="0">
                <a:solidFill>
                  <a:schemeClr val="bg1"/>
                </a:solidFill>
              </a:rPr>
              <a:t>Feature Satyam Infosys</a:t>
            </a:r>
          </a:p>
          <a:p>
            <a:endParaRPr lang="en-US" sz="2800" b="1" i="1" dirty="0">
              <a:solidFill>
                <a:schemeClr val="bg1"/>
              </a:solidFill>
            </a:endParaRPr>
          </a:p>
          <a:p>
            <a:r>
              <a:rPr lang="en-US" sz="2800" b="1" i="1" dirty="0">
                <a:solidFill>
                  <a:schemeClr val="bg1"/>
                </a:solidFill>
              </a:rPr>
              <a:t>Founded	1987	1981</a:t>
            </a:r>
          </a:p>
          <a:p>
            <a:r>
              <a:rPr lang="en-US" sz="2800" b="1" i="1" dirty="0">
                <a:solidFill>
                  <a:schemeClr val="bg1"/>
                </a:solidFill>
              </a:rPr>
              <a:t>Founder	B. Ramalinga Raju	N. R. Narayana Murthy &amp; team</a:t>
            </a:r>
          </a:p>
          <a:p>
            <a:r>
              <a:rPr lang="en-US" sz="2800" b="1" i="1" dirty="0">
                <a:solidFill>
                  <a:schemeClr val="bg1"/>
                </a:solidFill>
              </a:rPr>
              <a:t>Reputation	Fast-growing, aggressive expansion	Highly ethical, transparent, strong corporate governance</a:t>
            </a:r>
          </a:p>
          <a:p>
            <a:r>
              <a:rPr lang="en-US" sz="2800" b="1" i="1" dirty="0">
                <a:solidFill>
                  <a:schemeClr val="bg1"/>
                </a:solidFill>
              </a:rPr>
              <a:t>Financial Transparency	Later found to be falsified	Known for strict accounting standards</a:t>
            </a:r>
          </a:p>
          <a:p>
            <a:r>
              <a:rPr lang="en-US" sz="2800" b="1" i="1" dirty="0">
                <a:solidFill>
                  <a:schemeClr val="bg1"/>
                </a:solidFill>
              </a:rPr>
              <a:t>Outcome	Collapsed in 2009 due to fraud	Continued growing into a global IT leader</a:t>
            </a:r>
          </a:p>
          <a:p>
            <a:endParaRPr lang="en-US" sz="2400" b="1" i="1" dirty="0">
              <a:solidFill>
                <a:schemeClr val="bg1"/>
              </a:solidFill>
            </a:endParaRPr>
          </a:p>
          <a:p>
            <a:endParaRPr lang="en-US" sz="2400" b="1" i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677CC9-E423-8790-086F-FE8DCBCD508D}"/>
              </a:ext>
            </a:extLst>
          </p:cNvPr>
          <p:cNvSpPr txBox="1"/>
          <p:nvPr/>
        </p:nvSpPr>
        <p:spPr>
          <a:xfrm>
            <a:off x="7998106" y="3429000"/>
            <a:ext cx="3460832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FFC000"/>
                </a:solidFill>
              </a:rPr>
              <a:t>Main contrast: Infosys became famous for ethics and transparency, while Satyam became the biggest example of corporate fraud in India</a:t>
            </a:r>
          </a:p>
          <a:p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594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4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tanding next to a building&#10;&#10;AI-generated content may be incorrect.">
            <a:extLst>
              <a:ext uri="{FF2B5EF4-FFF2-40B4-BE49-F238E27FC236}">
                <a16:creationId xmlns:a16="http://schemas.microsoft.com/office/drawing/2014/main" id="{3DA60887-1D2D-D27F-5CFC-99408EC92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3620"/>
            <a:ext cx="12192000" cy="70316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7A8841-EBF5-DA71-EBE9-08DFB76C4917}"/>
              </a:ext>
            </a:extLst>
          </p:cNvPr>
          <p:cNvSpPr txBox="1"/>
          <p:nvPr/>
        </p:nvSpPr>
        <p:spPr>
          <a:xfrm>
            <a:off x="0" y="105013"/>
            <a:ext cx="11281458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Awards Received by Satyam (Before the Scandal)</a:t>
            </a:r>
          </a:p>
          <a:p>
            <a:endParaRPr lang="en-US" sz="2400" dirty="0">
              <a:solidFill>
                <a:srgbClr val="FF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US" sz="2400" dirty="0">
                <a:solidFill>
                  <a:srgbClr val="FFF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Golden Peacock Award</a:t>
            </a:r>
            <a:r>
              <a:rPr lang="en-US" sz="24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for Corporate Governance (2008)</a:t>
            </a:r>
          </a:p>
          <a:p>
            <a:r>
              <a:rPr lang="en-US" sz="24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(Ironically, this was later stripped after the scandal.)</a:t>
            </a:r>
          </a:p>
          <a:p>
            <a:endParaRPr lang="en-US" sz="2400" dirty="0">
              <a:solidFill>
                <a:srgbClr val="FF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US" sz="2400" dirty="0">
                <a:solidFill>
                  <a:srgbClr val="FFF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Best Employer Awards</a:t>
            </a:r>
            <a:r>
              <a:rPr lang="en-US" sz="24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from organizations like Hewitt Associates</a:t>
            </a:r>
          </a:p>
          <a:p>
            <a:endParaRPr lang="en-US" sz="2400" dirty="0">
              <a:solidFill>
                <a:srgbClr val="FF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US" sz="2400" dirty="0">
                <a:solidFill>
                  <a:srgbClr val="FFF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Top IT Service Provider </a:t>
            </a:r>
            <a:r>
              <a:rPr lang="en-US" sz="24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Rankings in surveys by CIO magazine</a:t>
            </a:r>
          </a:p>
          <a:p>
            <a:r>
              <a:rPr lang="en-US" sz="24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Awards for quality processes such as SEI-CMM Level </a:t>
            </a:r>
            <a:r>
              <a:rPr lang="en-US" sz="6600" dirty="0">
                <a:solidFill>
                  <a:srgbClr val="FFF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  <a:r>
              <a:rPr lang="en-US" sz="24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certifications</a:t>
            </a:r>
          </a:p>
          <a:p>
            <a:endParaRPr lang="en-US" sz="2400" dirty="0">
              <a:solidFill>
                <a:srgbClr val="FF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US" sz="2400" dirty="0">
                <a:solidFill>
                  <a:srgbClr val="FFF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Asian Business Leadership Awards </a:t>
            </a:r>
            <a:r>
              <a:rPr lang="en-US" sz="24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for its rapid growth</a:t>
            </a:r>
          </a:p>
          <a:p>
            <a:endParaRPr lang="en-US" sz="2400" dirty="0">
              <a:solidFill>
                <a:srgbClr val="FF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US" sz="2400" b="1" i="1" dirty="0">
              <a:solidFill>
                <a:srgbClr val="00B05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US" sz="2400" b="1" i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These awards helped create the illusion that Satyam was extremely stable, well-managed, and ethical — until the accounting fraud was exposed</a:t>
            </a:r>
            <a:r>
              <a:rPr lang="en-US" sz="24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6981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Video 8" title="Person Typing On Keyboard">
            <a:hlinkClick r:id="" action="ppaction://media"/>
            <a:extLst>
              <a:ext uri="{FF2B5EF4-FFF2-40B4-BE49-F238E27FC236}">
                <a16:creationId xmlns:a16="http://schemas.microsoft.com/office/drawing/2014/main" id="{D258DF57-EA26-CF30-C299-F186E0433F4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E5B44C-3D57-20DF-B222-06758DDE72F5}"/>
              </a:ext>
            </a:extLst>
          </p:cNvPr>
          <p:cNvSpPr txBox="1"/>
          <p:nvPr/>
        </p:nvSpPr>
        <p:spPr>
          <a:xfrm>
            <a:off x="-91440" y="-853440"/>
            <a:ext cx="12269706" cy="77559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chemeClr val="bg1">
                    <a:lumMod val="95000"/>
                  </a:schemeClr>
                </a:solidFill>
                <a:latin typeface="Eras Bold ITC" panose="020B0907030504020204" pitchFamily="34" charset="0"/>
              </a:rPr>
              <a:t>SATYAM SCAM – NATURE, HOW IT WAS EXECUTED, AND PEOPLE INVOLVED</a:t>
            </a:r>
          </a:p>
          <a:p>
            <a:endParaRPr lang="en-US" sz="2400" b="1" i="1" dirty="0">
              <a:solidFill>
                <a:schemeClr val="bg1">
                  <a:lumMod val="95000"/>
                </a:schemeClr>
              </a:solidFill>
              <a:latin typeface="Eras Bold ITC" panose="020B0907030504020204" pitchFamily="34" charset="0"/>
            </a:endParaRPr>
          </a:p>
          <a:p>
            <a:r>
              <a:rPr lang="en-US" sz="2400" b="1" i="1" dirty="0">
                <a:solidFill>
                  <a:schemeClr val="bg1">
                    <a:lumMod val="95000"/>
                  </a:schemeClr>
                </a:solidFill>
                <a:latin typeface="Eras Bold ITC" panose="020B0907030504020204" pitchFamily="34" charset="0"/>
              </a:rPr>
              <a:t>The Satyam Computer Services Scam (2009) is known as India’s biggest </a:t>
            </a:r>
          </a:p>
          <a:p>
            <a:r>
              <a:rPr lang="en-US" sz="2400" b="1" i="1" dirty="0">
                <a:solidFill>
                  <a:schemeClr val="bg1">
                    <a:lumMod val="95000"/>
                  </a:schemeClr>
                </a:solidFill>
                <a:latin typeface="Eras Bold ITC" panose="020B0907030504020204" pitchFamily="34" charset="0"/>
              </a:rPr>
              <a:t>corporate accounting fraud. It was often called </a:t>
            </a:r>
          </a:p>
          <a:p>
            <a:r>
              <a:rPr lang="en-US" sz="2400" b="1" i="1" dirty="0">
                <a:solidFill>
                  <a:schemeClr val="bg1">
                    <a:lumMod val="95000"/>
                  </a:schemeClr>
                </a:solidFill>
                <a:latin typeface="Eras Bold ITC" panose="020B0907030504020204" pitchFamily="34" charset="0"/>
              </a:rPr>
              <a:t>“India’s Enron.”</a:t>
            </a:r>
          </a:p>
          <a:p>
            <a:endParaRPr lang="en-US" sz="2400" b="1" i="1" dirty="0">
              <a:solidFill>
                <a:schemeClr val="bg1">
                  <a:lumMod val="95000"/>
                </a:schemeClr>
              </a:solidFill>
              <a:latin typeface="Eras Bold ITC" panose="020B0907030504020204" pitchFamily="34" charset="0"/>
            </a:endParaRPr>
          </a:p>
          <a:p>
            <a:r>
              <a:rPr lang="en-US" sz="2400" b="1" i="1" dirty="0">
                <a:solidFill>
                  <a:schemeClr val="bg1">
                    <a:lumMod val="95000"/>
                  </a:schemeClr>
                </a:solidFill>
                <a:latin typeface="Eras Bold ITC" panose="020B0907030504020204" pitchFamily="34" charset="0"/>
              </a:rPr>
              <a:t>1. Nature of the Scam</a:t>
            </a:r>
          </a:p>
          <a:p>
            <a:endParaRPr lang="en-US" sz="2400" b="1" i="1" dirty="0">
              <a:solidFill>
                <a:schemeClr val="bg1">
                  <a:lumMod val="95000"/>
                </a:schemeClr>
              </a:solidFill>
              <a:latin typeface="Eras Bold ITC" panose="020B0907030504020204" pitchFamily="34" charset="0"/>
            </a:endParaRPr>
          </a:p>
          <a:p>
            <a:r>
              <a:rPr lang="en-US" sz="2400" b="1" i="1" dirty="0">
                <a:solidFill>
                  <a:schemeClr val="bg1">
                    <a:lumMod val="95000"/>
                  </a:schemeClr>
                </a:solidFill>
                <a:latin typeface="Eras Bold ITC" panose="020B0907030504020204" pitchFamily="34" charset="0"/>
              </a:rPr>
              <a:t>The scam was a corporate fraud involving:</a:t>
            </a:r>
          </a:p>
          <a:p>
            <a:endParaRPr lang="en-US" sz="2400" b="1" i="1" dirty="0">
              <a:solidFill>
                <a:schemeClr val="bg1">
                  <a:lumMod val="95000"/>
                </a:schemeClr>
              </a:solidFill>
              <a:latin typeface="Eras Bold ITC" panose="020B0907030504020204" pitchFamily="34" charset="0"/>
            </a:endParaRPr>
          </a:p>
          <a:p>
            <a:r>
              <a:rPr lang="en-US" sz="2400" b="1" i="1" dirty="0">
                <a:solidFill>
                  <a:schemeClr val="bg1">
                    <a:lumMod val="95000"/>
                  </a:schemeClr>
                </a:solidFill>
                <a:latin typeface="Eras Bold ITC" panose="020B0907030504020204" pitchFamily="34" charset="0"/>
              </a:rPr>
              <a:t>Manipulation of financial statements</a:t>
            </a:r>
          </a:p>
          <a:p>
            <a:endParaRPr lang="en-US" sz="2400" b="1" i="1" dirty="0">
              <a:solidFill>
                <a:schemeClr val="bg1">
                  <a:lumMod val="95000"/>
                </a:schemeClr>
              </a:solidFill>
              <a:latin typeface="Eras Bold ITC" panose="020B0907030504020204" pitchFamily="34" charset="0"/>
            </a:endParaRPr>
          </a:p>
          <a:p>
            <a:r>
              <a:rPr lang="en-US" sz="2400" b="1" i="1" dirty="0">
                <a:solidFill>
                  <a:schemeClr val="bg1">
                    <a:lumMod val="95000"/>
                  </a:schemeClr>
                </a:solidFill>
                <a:latin typeface="Eras Bold ITC" panose="020B0907030504020204" pitchFamily="34" charset="0"/>
              </a:rPr>
              <a:t>Inflating profits and revenues</a:t>
            </a:r>
          </a:p>
          <a:p>
            <a:endParaRPr lang="en-US" sz="2400" b="1" i="1" dirty="0">
              <a:solidFill>
                <a:schemeClr val="bg1">
                  <a:lumMod val="95000"/>
                </a:schemeClr>
              </a:solidFill>
              <a:latin typeface="Eras Bold ITC" panose="020B0907030504020204" pitchFamily="34" charset="0"/>
            </a:endParaRPr>
          </a:p>
          <a:p>
            <a:r>
              <a:rPr lang="en-US" sz="2400" b="1" i="1" dirty="0">
                <a:solidFill>
                  <a:schemeClr val="bg1">
                    <a:lumMod val="95000"/>
                  </a:schemeClr>
                </a:solidFill>
                <a:latin typeface="Eras Bold ITC" panose="020B0907030504020204" pitchFamily="34" charset="0"/>
              </a:rPr>
              <a:t>Creating fake cash balances</a:t>
            </a:r>
          </a:p>
          <a:p>
            <a:endParaRPr lang="en-US" sz="2400" b="1" i="1" dirty="0">
              <a:solidFill>
                <a:schemeClr val="bg1">
                  <a:lumMod val="95000"/>
                </a:schemeClr>
              </a:solidFill>
              <a:latin typeface="Eras Bold ITC" panose="020B0907030504020204" pitchFamily="34" charset="0"/>
            </a:endParaRPr>
          </a:p>
          <a:p>
            <a:r>
              <a:rPr lang="en-US" sz="2400" b="1" i="1" dirty="0">
                <a:solidFill>
                  <a:schemeClr val="bg1">
                    <a:lumMod val="95000"/>
                  </a:schemeClr>
                </a:solidFill>
                <a:latin typeface="Eras Bold ITC" panose="020B0907030504020204" pitchFamily="34" charset="0"/>
              </a:rPr>
              <a:t>Showing fake assets</a:t>
            </a:r>
          </a:p>
          <a:p>
            <a:endParaRPr lang="en-US" sz="2400" b="1" i="1" dirty="0">
              <a:solidFill>
                <a:schemeClr val="bg1">
                  <a:lumMod val="95000"/>
                </a:schemeClr>
              </a:solidFill>
              <a:latin typeface="Eras Bold ITC" panose="020B0907030504020204" pitchFamily="34" charset="0"/>
            </a:endParaRPr>
          </a:p>
          <a:p>
            <a:r>
              <a:rPr lang="en-US" sz="2400" b="1" i="1" dirty="0">
                <a:solidFill>
                  <a:srgbClr val="FF0000"/>
                </a:solidFill>
                <a:latin typeface="Eras Bold ITC" panose="020B0907030504020204" pitchFamily="34" charset="0"/>
              </a:rPr>
              <a:t>Misleading shareholders, investors, employees, and government regulators</a:t>
            </a:r>
          </a:p>
          <a:p>
            <a:r>
              <a:rPr lang="en-US" sz="2400" b="1" i="1" dirty="0">
                <a:solidFill>
                  <a:srgbClr val="FF0000"/>
                </a:solidFill>
                <a:latin typeface="Eras Bold ITC" panose="020B0907030504020204" pitchFamily="34" charset="0"/>
              </a:rPr>
              <a:t>It was mainly an accounting scam and corporate governance failure</a:t>
            </a:r>
            <a:r>
              <a:rPr lang="en-US" sz="2400" b="1" i="1" dirty="0">
                <a:solidFill>
                  <a:schemeClr val="bg1">
                    <a:lumMod val="95000"/>
                  </a:schemeClr>
                </a:solidFill>
                <a:latin typeface="Eras Bold ITC" panose="020B0907030504020204" pitchFamily="34" charset="0"/>
              </a:rPr>
              <a:t>.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367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48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paper&#10;&#10;AI-generated content may be incorrect.">
            <a:extLst>
              <a:ext uri="{FF2B5EF4-FFF2-40B4-BE49-F238E27FC236}">
                <a16:creationId xmlns:a16="http://schemas.microsoft.com/office/drawing/2014/main" id="{367B3540-20CD-BEBB-3AA2-2BC4503A1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360" y="-1071879"/>
            <a:ext cx="5911272" cy="34137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368C9E-16C5-F8A4-C077-DCC0A6F6D75B}"/>
              </a:ext>
            </a:extLst>
          </p:cNvPr>
          <p:cNvSpPr txBox="1"/>
          <p:nvPr/>
        </p:nvSpPr>
        <p:spPr>
          <a:xfrm>
            <a:off x="264161" y="1"/>
            <a:ext cx="6217919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pc="-150" dirty="0"/>
          </a:p>
          <a:p>
            <a:r>
              <a:rPr lang="en-US" spc="-150" dirty="0"/>
              <a:t>2</a:t>
            </a:r>
            <a:r>
              <a:rPr lang="en-US" sz="2000" spc="-150" dirty="0">
                <a:latin typeface="Eras Bold ITC" panose="020B0907030504020204" pitchFamily="34" charset="0"/>
              </a:rPr>
              <a:t>. How the Scam Was Executed (Step-by-Step)</a:t>
            </a:r>
          </a:p>
          <a:p>
            <a:endParaRPr lang="en-US" sz="2000" spc="-150" dirty="0">
              <a:latin typeface="Eras Bold ITC" panose="020B0907030504020204" pitchFamily="34" charset="0"/>
            </a:endParaRPr>
          </a:p>
          <a:p>
            <a:r>
              <a:rPr lang="en-US" sz="2000" spc="-150" dirty="0">
                <a:latin typeface="Eras Bold ITC" panose="020B0907030504020204" pitchFamily="34" charset="0"/>
              </a:rPr>
              <a:t>Step 1: Inflating Company Profits</a:t>
            </a:r>
          </a:p>
          <a:p>
            <a:r>
              <a:rPr lang="en-US" sz="2000" spc="-150" dirty="0">
                <a:latin typeface="Eras Bold ITC" panose="020B0907030504020204" pitchFamily="34" charset="0"/>
              </a:rPr>
              <a:t>Fake sales invoices were created.</a:t>
            </a:r>
          </a:p>
          <a:p>
            <a:endParaRPr lang="en-US" sz="2000" spc="-150" dirty="0">
              <a:latin typeface="Eras Bold ITC" panose="020B0907030504020204" pitchFamily="34" charset="0"/>
            </a:endParaRPr>
          </a:p>
          <a:p>
            <a:r>
              <a:rPr lang="en-US" sz="2000" spc="-150" dirty="0">
                <a:latin typeface="Eras Bold ITC" panose="020B0907030504020204" pitchFamily="34" charset="0"/>
              </a:rPr>
              <a:t>Company revenues were shown much higher than actual.</a:t>
            </a:r>
          </a:p>
          <a:p>
            <a:r>
              <a:rPr lang="en-US" sz="2000" spc="-150" dirty="0">
                <a:latin typeface="Eras Bold ITC" panose="020B0907030504020204" pitchFamily="34" charset="0"/>
              </a:rPr>
              <a:t>Profit margins were artificially increased every quarter.</a:t>
            </a:r>
          </a:p>
          <a:p>
            <a:endParaRPr lang="en-US" sz="2000" spc="-150" dirty="0">
              <a:latin typeface="Eras Bold ITC" panose="020B0907030504020204" pitchFamily="34" charset="0"/>
            </a:endParaRPr>
          </a:p>
          <a:p>
            <a:r>
              <a:rPr lang="en-US" sz="2000" spc="-150" dirty="0">
                <a:latin typeface="Eras Bold ITC" panose="020B0907030504020204" pitchFamily="34" charset="0"/>
              </a:rPr>
              <a:t>Step 2: Creating Fake Bank Accounts</a:t>
            </a:r>
          </a:p>
          <a:p>
            <a:r>
              <a:rPr lang="en-US" sz="2000" spc="-150" dirty="0">
                <a:latin typeface="Eras Bold ITC" panose="020B0907030504020204" pitchFamily="34" charset="0"/>
              </a:rPr>
              <a:t>Fake bank statements were prepared.</a:t>
            </a:r>
          </a:p>
          <a:p>
            <a:r>
              <a:rPr lang="en-US" sz="2000" spc="-150" dirty="0">
                <a:latin typeface="Eras Bold ITC" panose="020B0907030504020204" pitchFamily="34" charset="0"/>
              </a:rPr>
              <a:t>Fake cash balances worth ₹5,040 crore were shown.</a:t>
            </a:r>
          </a:p>
          <a:p>
            <a:r>
              <a:rPr lang="en-US" sz="2000" spc="-150" dirty="0">
                <a:latin typeface="Eras Bold ITC" panose="020B0907030504020204" pitchFamily="34" charset="0"/>
              </a:rPr>
              <a:t>The company looked financially strong even though it wasn’t.</a:t>
            </a:r>
          </a:p>
          <a:p>
            <a:endParaRPr lang="en-US" sz="2000" spc="-150" dirty="0">
              <a:latin typeface="Eras Bold ITC" panose="020B0907030504020204" pitchFamily="34" charset="0"/>
            </a:endParaRPr>
          </a:p>
          <a:p>
            <a:endParaRPr lang="en-US" sz="2000" spc="-150" dirty="0">
              <a:latin typeface="Eras Bold ITC" panose="020B0907030504020204" pitchFamily="34" charset="0"/>
            </a:endParaRPr>
          </a:p>
          <a:p>
            <a:r>
              <a:rPr lang="en-US" sz="2000" spc="-150" dirty="0">
                <a:latin typeface="Eras Bold ITC" panose="020B0907030504020204" pitchFamily="34" charset="0"/>
              </a:rPr>
              <a:t>Step 3: Manipulation of Balance Sheets</a:t>
            </a:r>
          </a:p>
          <a:p>
            <a:r>
              <a:rPr lang="en-US" sz="2000" spc="-150" dirty="0">
                <a:latin typeface="Eras Bold ITC" panose="020B0907030504020204" pitchFamily="34" charset="0"/>
              </a:rPr>
              <a:t>Assets were inflated.</a:t>
            </a:r>
            <a:endParaRPr lang="en-US" sz="2000" spc="-150" dirty="0">
              <a:solidFill>
                <a:schemeClr val="accent5">
                  <a:lumMod val="60000"/>
                  <a:lumOff val="40000"/>
                </a:schemeClr>
              </a:solidFill>
              <a:latin typeface="Eras Bold ITC" panose="020B0907030504020204" pitchFamily="34" charset="0"/>
            </a:endParaRPr>
          </a:p>
          <a:p>
            <a:r>
              <a:rPr lang="en-US" sz="2000" spc="-150" dirty="0">
                <a:latin typeface="Eras Bold ITC" panose="020B0907030504020204" pitchFamily="34" charset="0"/>
              </a:rPr>
              <a:t>Liabilities were hidden.</a:t>
            </a:r>
          </a:p>
          <a:p>
            <a:r>
              <a:rPr lang="en-US" sz="2000" spc="-150" dirty="0">
                <a:latin typeface="Eras Bold ITC" panose="020B0907030504020204" pitchFamily="34" charset="0"/>
              </a:rPr>
              <a:t>False figures were inserted into accounts for many years.</a:t>
            </a:r>
          </a:p>
          <a:p>
            <a:endParaRPr lang="en-US" sz="2000" spc="-150" dirty="0">
              <a:solidFill>
                <a:schemeClr val="accent5">
                  <a:lumMod val="60000"/>
                  <a:lumOff val="40000"/>
                </a:schemeClr>
              </a:solidFill>
              <a:latin typeface="Eras Bold ITC" panose="020B0907030504020204" pitchFamily="34" charset="0"/>
            </a:endParaRPr>
          </a:p>
          <a:p>
            <a:endParaRPr lang="en-US" spc="-15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0C3383-44A4-1023-C655-F759A6925153}"/>
              </a:ext>
            </a:extLst>
          </p:cNvPr>
          <p:cNvSpPr txBox="1"/>
          <p:nvPr/>
        </p:nvSpPr>
        <p:spPr>
          <a:xfrm>
            <a:off x="6644640" y="2865120"/>
            <a:ext cx="54254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Step 4: Misleading Auditors and Government Authorities</a:t>
            </a:r>
          </a:p>
          <a:p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Fake documents were given to PricewaterhouseCoopers (PwC) auditors.</a:t>
            </a:r>
          </a:p>
          <a:p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Auditors failed to verify whether the cash shown actually existed.</a:t>
            </a:r>
          </a:p>
          <a:p>
            <a:endParaRPr lang="en-US" sz="20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Step 5: Buying Family-Owned Companies</a:t>
            </a:r>
          </a:p>
          <a:p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Raju tried to use Satyam’s money to buy his family companies (Maytas).</a:t>
            </a:r>
          </a:p>
          <a:p>
            <a:r>
              <a:rPr lang="en-US" sz="2000" dirty="0">
                <a:latin typeface="Aharoni" panose="02010803020104030203" pitchFamily="2" charset="-79"/>
                <a:cs typeface="Aharoni" panose="02010803020104030203" pitchFamily="2" charset="-79"/>
              </a:rPr>
              <a:t>This step exposed the scam when shareholders opposed the deal</a:t>
            </a:r>
          </a:p>
        </p:txBody>
      </p:sp>
    </p:spTree>
    <p:extLst>
      <p:ext uri="{BB962C8B-B14F-4D97-AF65-F5344CB8AC3E}">
        <p14:creationId xmlns:p14="http://schemas.microsoft.com/office/powerpoint/2010/main" val="2955829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letter&#10;&#10;AI-generated content may be incorrect.">
            <a:extLst>
              <a:ext uri="{FF2B5EF4-FFF2-40B4-BE49-F238E27FC236}">
                <a16:creationId xmlns:a16="http://schemas.microsoft.com/office/drawing/2014/main" id="{E71E5A6B-2368-3534-A190-6B161AB4EF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14574" cy="3600294"/>
          </a:xfrm>
          <a:prstGeom prst="rect">
            <a:avLst/>
          </a:prstGeom>
        </p:spPr>
      </p:pic>
      <p:pic>
        <p:nvPicPr>
          <p:cNvPr id="5" name="Picture 4" descr="A close-up of a document&#10;&#10;AI-generated content may be incorrect.">
            <a:extLst>
              <a:ext uri="{FF2B5EF4-FFF2-40B4-BE49-F238E27FC236}">
                <a16:creationId xmlns:a16="http://schemas.microsoft.com/office/drawing/2014/main" id="{151AD2E1-845F-4E28-0520-7F9FA85CF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574" y="-103604"/>
            <a:ext cx="2968512" cy="3703898"/>
          </a:xfrm>
          <a:prstGeom prst="rect">
            <a:avLst/>
          </a:prstGeom>
        </p:spPr>
      </p:pic>
      <p:pic>
        <p:nvPicPr>
          <p:cNvPr id="7" name="Picture 6" descr="A document with text on it&#10;&#10;AI-generated content may be incorrect.">
            <a:extLst>
              <a:ext uri="{FF2B5EF4-FFF2-40B4-BE49-F238E27FC236}">
                <a16:creationId xmlns:a16="http://schemas.microsoft.com/office/drawing/2014/main" id="{743EB089-6CC5-3AB6-0347-5CF130216B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086" y="-81023"/>
            <a:ext cx="2594342" cy="3865946"/>
          </a:xfrm>
          <a:prstGeom prst="rect">
            <a:avLst/>
          </a:prstGeom>
        </p:spPr>
      </p:pic>
      <p:pic>
        <p:nvPicPr>
          <p:cNvPr id="9" name="Picture 8" descr="A paper with text on it&#10;&#10;AI-generated content may be incorrect.">
            <a:extLst>
              <a:ext uri="{FF2B5EF4-FFF2-40B4-BE49-F238E27FC236}">
                <a16:creationId xmlns:a16="http://schemas.microsoft.com/office/drawing/2014/main" id="{913AF56E-C160-95EA-0770-941CB8FABD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187" y="60767"/>
            <a:ext cx="2411953" cy="33682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7760D5E-74C0-17BD-447E-52D4AA868A42}"/>
              </a:ext>
            </a:extLst>
          </p:cNvPr>
          <p:cNvSpPr txBox="1"/>
          <p:nvPr/>
        </p:nvSpPr>
        <p:spPr>
          <a:xfrm>
            <a:off x="625033" y="4004840"/>
            <a:ext cx="115456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u="sng" dirty="0">
                <a:latin typeface="Arial Black" panose="020B0A04020102020204" pitchFamily="34" charset="0"/>
              </a:rPr>
              <a:t>Confession:</a:t>
            </a:r>
          </a:p>
          <a:p>
            <a:endParaRPr lang="en-US" sz="2400" dirty="0">
              <a:latin typeface="Arial Black" panose="020B0A04020102020204" pitchFamily="34" charset="0"/>
            </a:endParaRPr>
          </a:p>
          <a:p>
            <a:r>
              <a:rPr lang="en-US" sz="2400" dirty="0">
                <a:latin typeface="Arial Black" panose="020B0A04020102020204" pitchFamily="34" charset="0"/>
              </a:rPr>
              <a:t>On 7 January 2009,</a:t>
            </a:r>
          </a:p>
          <a:p>
            <a:r>
              <a:rPr lang="en-US" sz="2400" dirty="0">
                <a:latin typeface="Arial Black" panose="020B0A04020102020204" pitchFamily="34" charset="0"/>
              </a:rPr>
              <a:t>Ramalinga Raju wrote a letter admitting all fraud.</a:t>
            </a:r>
          </a:p>
          <a:p>
            <a:r>
              <a:rPr lang="en-US" sz="2400" dirty="0">
                <a:latin typeface="Arial Black" panose="020B0A04020102020204" pitchFamily="34" charset="0"/>
              </a:rPr>
              <a:t>He confessed that for years he had been showing false profits.</a:t>
            </a:r>
          </a:p>
        </p:txBody>
      </p:sp>
    </p:spTree>
    <p:extLst>
      <p:ext uri="{BB962C8B-B14F-4D97-AF65-F5344CB8AC3E}">
        <p14:creationId xmlns:p14="http://schemas.microsoft.com/office/powerpoint/2010/main" val="1469641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men in suits&#10;&#10;AI-generated content may be incorrect.">
            <a:extLst>
              <a:ext uri="{FF2B5EF4-FFF2-40B4-BE49-F238E27FC236}">
                <a16:creationId xmlns:a16="http://schemas.microsoft.com/office/drawing/2014/main" id="{CDF3F7CF-12C3-5AAA-611A-935FEDC48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0591" y="-1288253"/>
            <a:ext cx="4751409" cy="2808000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FDDCFFA-6798-37CC-95CE-787A60005C0B}"/>
              </a:ext>
            </a:extLst>
          </p:cNvPr>
          <p:cNvSpPr>
            <a:spLocks noGrp="1"/>
          </p:cNvSpPr>
          <p:nvPr>
            <p:ph type="pic" idx="4294967295"/>
          </p:nvPr>
        </p:nvSpPr>
        <p:spPr>
          <a:xfrm>
            <a:off x="104173" y="0"/>
            <a:ext cx="10613984" cy="3831221"/>
          </a:xfrm>
        </p:spPr>
        <p:txBody>
          <a:bodyPr>
            <a:normAutofit fontScale="25000" lnSpcReduction="20000"/>
          </a:bodyPr>
          <a:lstStyle/>
          <a:p>
            <a:pPr lvl="4"/>
            <a:r>
              <a:rPr lang="en-US" dirty="0">
                <a:solidFill>
                  <a:srgbClr val="FF0000"/>
                </a:solidFill>
              </a:rPr>
              <a:t>3. People Involved in the Scam</a:t>
            </a:r>
          </a:p>
          <a:p>
            <a:pPr marL="0" indent="0">
              <a:buNone/>
            </a:pPr>
            <a:r>
              <a:rPr lang="en-US" sz="8000" dirty="0">
                <a:solidFill>
                  <a:srgbClr val="FF0000"/>
                </a:solidFill>
              </a:rPr>
              <a:t>*1</a:t>
            </a:r>
            <a:r>
              <a:rPr lang="en-US" sz="8000" dirty="0">
                <a:solidFill>
                  <a:srgbClr val="FF0000"/>
                </a:solidFill>
                <a:latin typeface="Arial Black" panose="020B0A04020102020204" pitchFamily="34" charset="0"/>
              </a:rPr>
              <a:t>. B. Ramalinga Raju</a:t>
            </a:r>
          </a:p>
          <a:p>
            <a:r>
              <a:rPr lang="en-US" sz="8000" dirty="0">
                <a:solidFill>
                  <a:srgbClr val="FF0000"/>
                </a:solidFill>
                <a:latin typeface="Arial Black" panose="020B0A04020102020204" pitchFamily="34" charset="0"/>
              </a:rPr>
              <a:t>Founder and Chairman of Satyam.</a:t>
            </a:r>
          </a:p>
          <a:p>
            <a:r>
              <a:rPr lang="en-US" sz="8000" dirty="0">
                <a:solidFill>
                  <a:srgbClr val="FF0000"/>
                </a:solidFill>
                <a:latin typeface="Arial Black" panose="020B0A04020102020204" pitchFamily="34" charset="0"/>
              </a:rPr>
              <a:t>Mastermind of the entire scam.</a:t>
            </a:r>
          </a:p>
          <a:p>
            <a:r>
              <a:rPr lang="en-US" sz="8000" dirty="0">
                <a:solidFill>
                  <a:srgbClr val="FF0000"/>
                </a:solidFill>
                <a:latin typeface="Arial Black" panose="020B0A04020102020204" pitchFamily="34" charset="0"/>
              </a:rPr>
              <a:t>Admitted manipulating accounts for years.</a:t>
            </a:r>
          </a:p>
          <a:p>
            <a:endParaRPr lang="en-US" sz="8000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r>
              <a:rPr lang="en-US" sz="8000" dirty="0">
                <a:solidFill>
                  <a:srgbClr val="FF0000"/>
                </a:solidFill>
                <a:latin typeface="Arial Black" panose="020B0A04020102020204" pitchFamily="34" charset="0"/>
              </a:rPr>
              <a:t>2. B. Rama Raju</a:t>
            </a:r>
          </a:p>
          <a:p>
            <a:r>
              <a:rPr lang="en-US" sz="8000" dirty="0">
                <a:solidFill>
                  <a:srgbClr val="FF0000"/>
                </a:solidFill>
                <a:latin typeface="Arial Black" panose="020B0A04020102020204" pitchFamily="34" charset="0"/>
              </a:rPr>
              <a:t>Brother of Raju.</a:t>
            </a:r>
          </a:p>
          <a:p>
            <a:r>
              <a:rPr lang="en-US" sz="8000" dirty="0">
                <a:solidFill>
                  <a:srgbClr val="FF0000"/>
                </a:solidFill>
                <a:latin typeface="Arial Black" panose="020B0A04020102020204" pitchFamily="34" charset="0"/>
              </a:rPr>
              <a:t>Managing Director (MD) of Satyam.</a:t>
            </a:r>
          </a:p>
          <a:p>
            <a:r>
              <a:rPr lang="en-US" sz="8000" dirty="0">
                <a:solidFill>
                  <a:srgbClr val="FF0000"/>
                </a:solidFill>
                <a:latin typeface="Arial Black" panose="020B0A04020102020204" pitchFamily="34" charset="0"/>
              </a:rPr>
              <a:t>Helped execute financial </a:t>
            </a:r>
          </a:p>
          <a:p>
            <a:r>
              <a:rPr lang="en-US" sz="8000" dirty="0">
                <a:solidFill>
                  <a:srgbClr val="FF0000"/>
                </a:solidFill>
                <a:latin typeface="Arial Black" panose="020B0A04020102020204" pitchFamily="34" charset="0"/>
              </a:rPr>
              <a:t>manipulations.</a:t>
            </a:r>
          </a:p>
          <a:p>
            <a:endParaRPr lang="en-US" sz="8000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endParaRPr lang="en-US" sz="8000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8000" dirty="0">
                <a:solidFill>
                  <a:srgbClr val="FF0000"/>
                </a:solidFill>
                <a:latin typeface="Arial Black" panose="020B0A04020102020204" pitchFamily="34" charset="0"/>
              </a:rPr>
              <a:t>*3. Vadlamani Srinivas</a:t>
            </a:r>
          </a:p>
          <a:p>
            <a:r>
              <a:rPr lang="en-US" sz="8000" dirty="0">
                <a:solidFill>
                  <a:srgbClr val="FF0000"/>
                </a:solidFill>
                <a:latin typeface="Arial Black" panose="020B0A04020102020204" pitchFamily="34" charset="0"/>
              </a:rPr>
              <a:t>Chief Financial Officer (CFO).</a:t>
            </a:r>
          </a:p>
          <a:p>
            <a:r>
              <a:rPr lang="en-US" sz="8000" dirty="0">
                <a:solidFill>
                  <a:srgbClr val="FF0000"/>
                </a:solidFill>
                <a:latin typeface="Arial Black" panose="020B0A04020102020204" pitchFamily="34" charset="0"/>
              </a:rPr>
              <a:t>Handled false accounts, fake revenue entries, and manipulated financial statements.</a:t>
            </a:r>
          </a:p>
          <a:p>
            <a:endParaRPr lang="en-US" sz="8000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r>
              <a:rPr lang="en-US" sz="8000" dirty="0">
                <a:solidFill>
                  <a:srgbClr val="FF0000"/>
                </a:solidFill>
                <a:latin typeface="Arial Black" panose="020B0A04020102020204" pitchFamily="34" charset="0"/>
              </a:rPr>
              <a:t>4. PricewaterhouseCoopers (PwC) Auditors</a:t>
            </a:r>
          </a:p>
          <a:p>
            <a:r>
              <a:rPr lang="en-US" sz="8000" dirty="0">
                <a:solidFill>
                  <a:srgbClr val="FF0000"/>
                </a:solidFill>
                <a:latin typeface="Arial Black" panose="020B0A04020102020204" pitchFamily="34" charset="0"/>
              </a:rPr>
              <a:t>External auditors responsible for verifying accounts.</a:t>
            </a:r>
          </a:p>
          <a:p>
            <a:r>
              <a:rPr lang="en-US" sz="8000" dirty="0">
                <a:solidFill>
                  <a:srgbClr val="FF0000"/>
                </a:solidFill>
                <a:latin typeface="Arial Black" panose="020B0A04020102020204" pitchFamily="34" charset="0"/>
              </a:rPr>
              <a:t>Failed to detect fraud for almost 8 years.</a:t>
            </a:r>
          </a:p>
          <a:p>
            <a:endParaRPr lang="en-US" sz="8000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E5105E-5EF7-258D-C858-9D7298EAF736}"/>
              </a:ext>
            </a:extLst>
          </p:cNvPr>
          <p:cNvSpPr txBox="1"/>
          <p:nvPr/>
        </p:nvSpPr>
        <p:spPr>
          <a:xfrm>
            <a:off x="5717894" y="1493071"/>
            <a:ext cx="9315445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Eras Bold ITC" panose="020B0907030504020204" pitchFamily="34" charset="0"/>
              </a:rPr>
              <a:t>Key audit partners:</a:t>
            </a:r>
          </a:p>
          <a:p>
            <a:r>
              <a:rPr lang="en-US" sz="2000" dirty="0">
                <a:latin typeface="Eras Bold ITC" panose="020B0907030504020204" pitchFamily="34" charset="0"/>
              </a:rPr>
              <a:t>S. Gopalakrishnan</a:t>
            </a:r>
          </a:p>
          <a:p>
            <a:r>
              <a:rPr lang="en-US" sz="2000" dirty="0">
                <a:latin typeface="Eras Bold ITC" panose="020B0907030504020204" pitchFamily="34" charset="0"/>
              </a:rPr>
              <a:t>T. Srinivas</a:t>
            </a:r>
          </a:p>
          <a:p>
            <a:r>
              <a:rPr lang="en-US" sz="2000" dirty="0">
                <a:latin typeface="Eras Bold ITC" panose="020B0907030504020204" pitchFamily="34" charset="0"/>
              </a:rPr>
              <a:t>5. Finance Department Staff</a:t>
            </a:r>
          </a:p>
          <a:p>
            <a:r>
              <a:rPr lang="en-US" sz="2000" dirty="0">
                <a:latin typeface="Eras Bold ITC" panose="020B0907030504020204" pitchFamily="34" charset="0"/>
              </a:rPr>
              <a:t>Employees who created fake invoices.</a:t>
            </a:r>
          </a:p>
          <a:p>
            <a:r>
              <a:rPr lang="en-US" sz="2000" dirty="0">
                <a:latin typeface="Eras Bold ITC" panose="020B0907030504020204" pitchFamily="34" charset="0"/>
              </a:rPr>
              <a:t>Helped maintain fake bank statements and entries.</a:t>
            </a:r>
          </a:p>
          <a:p>
            <a:endParaRPr lang="en-US" sz="2000" dirty="0">
              <a:latin typeface="Eras Bold ITC" panose="020B0907030504020204" pitchFamily="34" charset="0"/>
            </a:endParaRPr>
          </a:p>
          <a:p>
            <a:r>
              <a:rPr lang="en-US" sz="2000" dirty="0">
                <a:latin typeface="Eras Bold ITC" panose="020B0907030504020204" pitchFamily="34" charset="0"/>
              </a:rPr>
              <a:t>6. Board of Directors (Indirect Involvement)</a:t>
            </a:r>
          </a:p>
          <a:p>
            <a:r>
              <a:rPr lang="en-US" sz="2000" dirty="0">
                <a:latin typeface="Eras Bold ITC" panose="020B0907030504020204" pitchFamily="34" charset="0"/>
              </a:rPr>
              <a:t>Failed to question or detect fraud.</a:t>
            </a:r>
          </a:p>
          <a:p>
            <a:r>
              <a:rPr lang="en-US" sz="2000" dirty="0">
                <a:latin typeface="Eras Bold ITC" panose="020B0907030504020204" pitchFamily="34" charset="0"/>
              </a:rPr>
              <a:t>Weak corporate governance allowed Raju to </a:t>
            </a:r>
          </a:p>
          <a:p>
            <a:r>
              <a:rPr lang="en-US" sz="2000" dirty="0">
                <a:latin typeface="Eras Bold ITC" panose="020B0907030504020204" pitchFamily="34" charset="0"/>
              </a:rPr>
              <a:t>manipulate information.</a:t>
            </a:r>
          </a:p>
          <a:p>
            <a:endParaRPr lang="en-US" sz="2000" dirty="0">
              <a:latin typeface="Eras Bold ITC" panose="020B0907030504020204" pitchFamily="34" charset="0"/>
            </a:endParaRPr>
          </a:p>
          <a:p>
            <a:endParaRPr lang="en-US" dirty="0"/>
          </a:p>
        </p:txBody>
      </p:sp>
      <p:pic>
        <p:nvPicPr>
          <p:cNvPr id="10" name="Picture 9" descr="A couple of men in suits&#10;&#10;AI-generated content may be incorrect.">
            <a:extLst>
              <a:ext uri="{FF2B5EF4-FFF2-40B4-BE49-F238E27FC236}">
                <a16:creationId xmlns:a16="http://schemas.microsoft.com/office/drawing/2014/main" id="{17B4EE03-676E-EE8B-4C8B-7B7E79F5C0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7761" y="5223796"/>
            <a:ext cx="2450306" cy="163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512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383B0-03EA-E6BF-E4A3-720399A1C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567159"/>
            <a:ext cx="3932237" cy="677119"/>
          </a:xfrm>
        </p:spPr>
        <p:txBody>
          <a:bodyPr>
            <a:norm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Bold ITC" panose="020B0907030504020204" pitchFamily="34" charset="0"/>
              </a:rPr>
              <a:t>Summary</a:t>
            </a:r>
          </a:p>
        </p:txBody>
      </p:sp>
      <p:pic>
        <p:nvPicPr>
          <p:cNvPr id="6" name="Picture Placeholder 5" descr="A person in a suit and tie&#10;&#10;AI-generated content may be incorrect.">
            <a:extLst>
              <a:ext uri="{FF2B5EF4-FFF2-40B4-BE49-F238E27FC236}">
                <a16:creationId xmlns:a16="http://schemas.microsoft.com/office/drawing/2014/main" id="{6ECB51CE-224E-DBA5-0C20-7EA8BB3A0E2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42" r="12042"/>
          <a:stretch>
            <a:fillRect/>
          </a:stretch>
        </p:blipFill>
        <p:spPr>
          <a:xfrm>
            <a:off x="4768849" y="255244"/>
            <a:ext cx="2629723" cy="207645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B8AADE-04FE-19AD-86E2-1D35A477A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1293471"/>
            <a:ext cx="3932237" cy="381158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The Satyam scam was </a:t>
            </a:r>
            <a:r>
              <a:rPr lang="en-US" sz="2400" dirty="0" err="1">
                <a:latin typeface="Aharoni" panose="02010803020104030203" pitchFamily="2" charset="-79"/>
                <a:cs typeface="Aharoni" panose="02010803020104030203" pitchFamily="2" charset="-79"/>
              </a:rPr>
              <a:t>amajor</a:t>
            </a: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 accounting fraud where the company inflated profits, revenues, and cash balances using fake documents. The scam was executed by Chairman </a:t>
            </a:r>
            <a:r>
              <a:rPr lang="en-US" sz="2400" dirty="0" err="1">
                <a:latin typeface="Aharoni" panose="02010803020104030203" pitchFamily="2" charset="-79"/>
                <a:cs typeface="Aharoni" panose="02010803020104030203" pitchFamily="2" charset="-79"/>
              </a:rPr>
              <a:t>B.Ramalinga</a:t>
            </a: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 Raju along with top managing including his brother Rama </a:t>
            </a:r>
            <a:r>
              <a:rPr lang="en-US" sz="2400" dirty="0" err="1">
                <a:latin typeface="Aharoni" panose="02010803020104030203" pitchFamily="2" charset="-79"/>
                <a:cs typeface="Aharoni" panose="02010803020104030203" pitchFamily="2" charset="-79"/>
              </a:rPr>
              <a:t>Rjau</a:t>
            </a: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, CFO Vadlamani Srinivas, and negligent auditors from PwC</a:t>
            </a:r>
          </a:p>
        </p:txBody>
      </p:sp>
      <p:pic>
        <p:nvPicPr>
          <p:cNvPr id="8" name="Picture 7" descr="A person in a suit standing in front of a building&#10;&#10;AI-generated content may be incorrect.">
            <a:extLst>
              <a:ext uri="{FF2B5EF4-FFF2-40B4-BE49-F238E27FC236}">
                <a16:creationId xmlns:a16="http://schemas.microsoft.com/office/drawing/2014/main" id="{9B71A741-4ABA-47B8-0F67-B7541C758A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8849" y="2523427"/>
            <a:ext cx="6643868" cy="3661327"/>
          </a:xfrm>
          <a:prstGeom prst="rect">
            <a:avLst/>
          </a:prstGeom>
        </p:spPr>
      </p:pic>
      <p:pic>
        <p:nvPicPr>
          <p:cNvPr id="10" name="Picture 9" descr="A person with a mustache wearing glasses&#10;&#10;AI-generated content may be incorrect.">
            <a:extLst>
              <a:ext uri="{FF2B5EF4-FFF2-40B4-BE49-F238E27FC236}">
                <a16:creationId xmlns:a16="http://schemas.microsoft.com/office/drawing/2014/main" id="{D4C79C3A-E063-A57A-517D-B0C5EFE1FC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006" y="194477"/>
            <a:ext cx="3207242" cy="21411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5BBEC3-A346-C288-C3F9-12AFE870AC38}"/>
              </a:ext>
            </a:extLst>
          </p:cNvPr>
          <p:cNvSpPr txBox="1"/>
          <p:nvPr/>
        </p:nvSpPr>
        <p:spPr>
          <a:xfrm>
            <a:off x="5069711" y="2731625"/>
            <a:ext cx="480612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chemeClr val="bg1"/>
                </a:solidFill>
                <a:latin typeface="Eras Bold ITC" panose="020B0907030504020204" pitchFamily="34" charset="0"/>
                <a:cs typeface="Aharoni" panose="02010803020104030203" pitchFamily="2" charset="-79"/>
              </a:rPr>
              <a:t>WHY THE SCAM HAPPENED?!</a:t>
            </a:r>
          </a:p>
          <a:p>
            <a:endParaRPr lang="en-US" sz="2000" i="1" dirty="0">
              <a:solidFill>
                <a:schemeClr val="bg1"/>
              </a:solidFill>
              <a:latin typeface="Eras Bold ITC" panose="020B0907030504020204" pitchFamily="34" charset="0"/>
              <a:cs typeface="Aharoni" panose="02010803020104030203" pitchFamily="2" charset="-79"/>
            </a:endParaRPr>
          </a:p>
          <a:p>
            <a:r>
              <a:rPr lang="en-US" sz="2000" i="1" dirty="0">
                <a:solidFill>
                  <a:schemeClr val="bg1"/>
                </a:solidFill>
                <a:latin typeface="Eras Bold ITC" panose="020B0907030504020204" pitchFamily="34" charset="0"/>
                <a:cs typeface="Aharoni" panose="02010803020104030203" pitchFamily="2" charset="-79"/>
              </a:rPr>
              <a:t>Greed to attract investors </a:t>
            </a:r>
          </a:p>
          <a:p>
            <a:endParaRPr lang="en-US" sz="2000" i="1" dirty="0">
              <a:solidFill>
                <a:schemeClr val="bg1"/>
              </a:solidFill>
              <a:latin typeface="Eras Bold ITC" panose="020B0907030504020204" pitchFamily="34" charset="0"/>
              <a:cs typeface="Aharoni" panose="02010803020104030203" pitchFamily="2" charset="-79"/>
            </a:endParaRPr>
          </a:p>
          <a:p>
            <a:r>
              <a:rPr lang="en-US" sz="2000" i="1" dirty="0">
                <a:solidFill>
                  <a:schemeClr val="bg1"/>
                </a:solidFill>
                <a:latin typeface="Eras Bold ITC" panose="020B0907030504020204" pitchFamily="34" charset="0"/>
                <a:cs typeface="Aharoni" panose="02010803020104030203" pitchFamily="2" charset="-79"/>
              </a:rPr>
              <a:t>Maintain high stock prices</a:t>
            </a:r>
          </a:p>
          <a:p>
            <a:endParaRPr lang="en-US" sz="2000" i="1" dirty="0">
              <a:solidFill>
                <a:schemeClr val="bg1"/>
              </a:solidFill>
              <a:latin typeface="Eras Bold ITC" panose="020B0907030504020204" pitchFamily="34" charset="0"/>
              <a:cs typeface="Aharoni" panose="02010803020104030203" pitchFamily="2" charset="-79"/>
            </a:endParaRPr>
          </a:p>
          <a:p>
            <a:r>
              <a:rPr lang="en-US" sz="2000" i="1" dirty="0">
                <a:solidFill>
                  <a:schemeClr val="bg1"/>
                </a:solidFill>
                <a:latin typeface="Eras Bold ITC" panose="020B0907030504020204" pitchFamily="34" charset="0"/>
                <a:cs typeface="Aharoni" panose="02010803020104030203" pitchFamily="2" charset="-79"/>
              </a:rPr>
              <a:t>Pressure to show constant growth</a:t>
            </a:r>
          </a:p>
          <a:p>
            <a:endParaRPr lang="en-US" sz="2000" i="1" dirty="0">
              <a:solidFill>
                <a:schemeClr val="bg1"/>
              </a:solidFill>
              <a:latin typeface="Eras Bold ITC" panose="020B0907030504020204" pitchFamily="34" charset="0"/>
              <a:cs typeface="Aharoni" panose="02010803020104030203" pitchFamily="2" charset="-79"/>
            </a:endParaRPr>
          </a:p>
          <a:p>
            <a:r>
              <a:rPr lang="en-US" sz="2000" i="1" dirty="0">
                <a:solidFill>
                  <a:schemeClr val="bg1"/>
                </a:solidFill>
                <a:latin typeface="Eras Bold ITC" panose="020B0907030504020204" pitchFamily="34" charset="0"/>
                <a:cs typeface="Aharoni" panose="02010803020104030203" pitchFamily="2" charset="-79"/>
              </a:rPr>
              <a:t>Weak regulatory and audit controls</a:t>
            </a:r>
          </a:p>
        </p:txBody>
      </p:sp>
    </p:spTree>
    <p:extLst>
      <p:ext uri="{BB962C8B-B14F-4D97-AF65-F5344CB8AC3E}">
        <p14:creationId xmlns:p14="http://schemas.microsoft.com/office/powerpoint/2010/main" val="254372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849</Words>
  <Application>Microsoft Office PowerPoint</Application>
  <PresentationFormat>Widescreen</PresentationFormat>
  <Paragraphs>140</Paragraphs>
  <Slides>10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ADLaM Display</vt:lpstr>
      <vt:lpstr>Aharoni</vt:lpstr>
      <vt:lpstr>Aptos</vt:lpstr>
      <vt:lpstr>Aptos Display</vt:lpstr>
      <vt:lpstr>Arial</vt:lpstr>
      <vt:lpstr>Arial Black</vt:lpstr>
      <vt:lpstr>Calibri</vt:lpstr>
      <vt:lpstr>Eras Bold ITC</vt:lpstr>
      <vt:lpstr>Office Theme</vt:lpstr>
      <vt:lpstr>        Satyam Scandal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Sahana N Angadi</dc:creator>
  <cp:lastModifiedBy>Sahana N Angadi</cp:lastModifiedBy>
  <cp:revision>1</cp:revision>
  <dcterms:created xsi:type="dcterms:W3CDTF">2025-11-18T13:05:25Z</dcterms:created>
  <dcterms:modified xsi:type="dcterms:W3CDTF">2025-11-18T16:49:10Z</dcterms:modified>
</cp:coreProperties>
</file>